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80" r:id="rId3"/>
    <p:sldId id="278" r:id="rId4"/>
    <p:sldId id="261" r:id="rId5"/>
    <p:sldId id="281" r:id="rId6"/>
    <p:sldId id="263" r:id="rId7"/>
    <p:sldId id="264" r:id="rId8"/>
    <p:sldId id="265" r:id="rId9"/>
    <p:sldId id="296" r:id="rId10"/>
    <p:sldId id="266" r:id="rId11"/>
    <p:sldId id="297" r:id="rId12"/>
    <p:sldId id="267" r:id="rId13"/>
    <p:sldId id="282" r:id="rId14"/>
    <p:sldId id="283" r:id="rId15"/>
    <p:sldId id="298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3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276" r:id="rId33"/>
    <p:sldId id="295" r:id="rId34"/>
    <p:sldId id="259" r:id="rId35"/>
    <p:sldId id="294" r:id="rId36"/>
  </p:sldIdLst>
  <p:sldSz cx="12192000" cy="6858000"/>
  <p:notesSz cx="6858000" cy="9144000"/>
  <p:embeddedFontLst>
    <p:embeddedFont>
      <p:font typeface="Libre Baskerville" panose="02000000000000000000" pitchFamily="2" charset="0"/>
      <p:regular r:id="rId38"/>
      <p:bold r:id="rId39"/>
      <p:italic r:id="rId40"/>
    </p:embeddedFont>
  </p:embeddedFontLst>
  <p:custShowLst>
    <p:custShow name="Custom Show 1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14"/>
        <p:sld r:id="rId15"/>
        <p:sld r:id="rId16"/>
        <p:sld r:id="rId17"/>
        <p:sld r:id="rId18"/>
        <p:sld r:id="rId19"/>
        <p:sld r:id="rId20"/>
        <p:sld r:id="rId21"/>
        <p:sld r:id="rId22"/>
        <p:sld r:id="rId23"/>
        <p:sld r:id="rId24"/>
        <p:sld r:id="rId25"/>
        <p:sld r:id="rId26"/>
        <p:sld r:id="rId27"/>
        <p:sld r:id="rId28"/>
        <p:sld r:id="rId29"/>
        <p:sld r:id="rId30"/>
        <p:sld r:id="rId31"/>
        <p:sld r:id="rId32"/>
        <p:sld r:id="rId33"/>
        <p:sld r:id="rId34"/>
        <p:sld r:id="rId35"/>
        <p:sld r:id="rId36"/>
      </p:sldLst>
    </p:custShow>
  </p:custShow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2678C2-C453-4703-8B92-B7257E2274F1}" v="3" dt="2026-02-18T07:34:07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91" d="100"/>
          <a:sy n="91" d="100"/>
        </p:scale>
        <p:origin x="41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LLA AKHIL" userId="9545ca8784b3f00a" providerId="LiveId" clId="{8B13C98F-3134-4305-8426-0CA423FD515E}"/>
    <pc:docChg chg="modSld">
      <pc:chgData name="GOLLA AKHIL" userId="9545ca8784b3f00a" providerId="LiveId" clId="{8B13C98F-3134-4305-8426-0CA423FD515E}" dt="2026-02-22T05:36:24.862" v="21" actId="20577"/>
      <pc:docMkLst>
        <pc:docMk/>
      </pc:docMkLst>
      <pc:sldChg chg="modSp mod">
        <pc:chgData name="GOLLA AKHIL" userId="9545ca8784b3f00a" providerId="LiveId" clId="{8B13C98F-3134-4305-8426-0CA423FD515E}" dt="2026-02-14T07:57:03.322" v="4" actId="1362"/>
        <pc:sldMkLst>
          <pc:docMk/>
          <pc:sldMk cId="0" sldId="256"/>
        </pc:sldMkLst>
        <pc:picChg chg="mod">
          <ac:chgData name="GOLLA AKHIL" userId="9545ca8784b3f00a" providerId="LiveId" clId="{8B13C98F-3134-4305-8426-0CA423FD515E}" dt="2026-02-14T07:57:03.322" v="4" actId="1362"/>
          <ac:picMkLst>
            <pc:docMk/>
            <pc:sldMk cId="0" sldId="256"/>
            <ac:picMk id="98" creationId="{00000000-0000-0000-0000-000000000000}"/>
          </ac:picMkLst>
        </pc:picChg>
      </pc:sldChg>
      <pc:sldChg chg="modSp mod">
        <pc:chgData name="GOLLA AKHIL" userId="9545ca8784b3f00a" providerId="LiveId" clId="{8B13C98F-3134-4305-8426-0CA423FD515E}" dt="2026-02-18T07:34:07.927" v="19" actId="1076"/>
        <pc:sldMkLst>
          <pc:docMk/>
          <pc:sldMk cId="1644687032" sldId="276"/>
        </pc:sldMkLst>
        <pc:spChg chg="mod">
          <ac:chgData name="GOLLA AKHIL" userId="9545ca8784b3f00a" providerId="LiveId" clId="{8B13C98F-3134-4305-8426-0CA423FD515E}" dt="2026-02-18T07:33:58.812" v="18" actId="1076"/>
          <ac:spMkLst>
            <pc:docMk/>
            <pc:sldMk cId="1644687032" sldId="276"/>
            <ac:spMk id="2" creationId="{ECCB9DEF-89CA-A2D6-D3EC-477F8E778C84}"/>
          </ac:spMkLst>
        </pc:spChg>
        <pc:spChg chg="mod">
          <ac:chgData name="GOLLA AKHIL" userId="9545ca8784b3f00a" providerId="LiveId" clId="{8B13C98F-3134-4305-8426-0CA423FD515E}" dt="2026-02-18T07:34:07.927" v="19" actId="1076"/>
          <ac:spMkLst>
            <pc:docMk/>
            <pc:sldMk cId="1644687032" sldId="276"/>
            <ac:spMk id="3" creationId="{09C3BE92-B48B-2A1D-F16A-C9FECDDF3733}"/>
          </ac:spMkLst>
        </pc:spChg>
      </pc:sldChg>
      <pc:sldChg chg="modSp mod">
        <pc:chgData name="GOLLA AKHIL" userId="9545ca8784b3f00a" providerId="LiveId" clId="{8B13C98F-3134-4305-8426-0CA423FD515E}" dt="2026-02-22T05:36:24.862" v="21" actId="20577"/>
        <pc:sldMkLst>
          <pc:docMk/>
          <pc:sldMk cId="1926531273" sldId="280"/>
        </pc:sldMkLst>
        <pc:spChg chg="mod">
          <ac:chgData name="GOLLA AKHIL" userId="9545ca8784b3f00a" providerId="LiveId" clId="{8B13C98F-3134-4305-8426-0CA423FD515E}" dt="2026-02-22T05:36:24.862" v="21" actId="20577"/>
          <ac:spMkLst>
            <pc:docMk/>
            <pc:sldMk cId="1926531273" sldId="280"/>
            <ac:spMk id="4" creationId="{E1B9929B-C357-D27B-49AE-F42136576BB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D62AA37B-3AFB-F95C-1479-A55A2AFC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426A14D5-57DC-1535-F830-7E506F5075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5B350644-8005-98F8-E5CB-C2F973483A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400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khilyadav25/" TargetMode="External"/><Relationship Id="rId2" Type="http://schemas.openxmlformats.org/officeDocument/2006/relationships/hyperlink" Target="https://github.com/akhilyadav2502-stack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1185" y="163902"/>
            <a:ext cx="12190815" cy="66940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E4FB14-EA91-DCE2-19C1-EF7583F3A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2966890" y="3645859"/>
            <a:ext cx="807676" cy="9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C5244-CD1C-B957-E40D-E5D18679EF2B}"/>
              </a:ext>
            </a:extLst>
          </p:cNvPr>
          <p:cNvSpPr txBox="1"/>
          <p:nvPr/>
        </p:nvSpPr>
        <p:spPr>
          <a:xfrm>
            <a:off x="1094680" y="4826225"/>
            <a:ext cx="10002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Scraping and Exploratory Data Analysis of Flipkart Mobiles Data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683541-AE9D-F2B9-A03C-82DA8FF9895B}"/>
              </a:ext>
            </a:extLst>
          </p:cNvPr>
          <p:cNvSpPr txBox="1"/>
          <p:nvPr/>
        </p:nvSpPr>
        <p:spPr>
          <a:xfrm>
            <a:off x="3823727" y="3969619"/>
            <a:ext cx="71240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</a:rPr>
              <a:t>Mobiles </a:t>
            </a:r>
            <a:r>
              <a:rPr lang="en-IN" sz="3600" b="1" dirty="0">
                <a:solidFill>
                  <a:schemeClr val="accent4">
                    <a:lumMod val="75000"/>
                  </a:schemeClr>
                </a:solidFill>
              </a:rPr>
              <a:t>Scrapping</a:t>
            </a:r>
          </a:p>
          <a:p>
            <a:endParaRPr lang="en-IN" sz="3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BCD2-097C-AB08-F476-BFB1E155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434" y="241238"/>
            <a:ext cx="10515600" cy="99172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us: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B9929B-C357-D27B-49AE-F42136576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14" y="1500457"/>
            <a:ext cx="10742724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 am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Akhil Yadav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Postgraduate with a strong passion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 Visualization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Skilled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exploring real-world datasets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uncover meaningful insights.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Experienced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data extraction and cleaning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Python tools.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Continuously learning to enhance expertise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tools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-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https://github.com/akhilyadav2502-stack</a:t>
            </a: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LINKEDIN -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https://www.linkedin.com/in/akhilyadav25/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531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1898-F3F3-4391-5B5D-C100FB686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22" y="276635"/>
            <a:ext cx="10515600" cy="915035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Preface: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3F87A-8911-2A6B-0436-A3C21B64F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5177" y="1191670"/>
            <a:ext cx="9721645" cy="4351338"/>
          </a:xfrm>
        </p:spPr>
        <p:txBody>
          <a:bodyPr>
            <a:normAutofit fontScale="70000" lnSpcReduction="20000"/>
          </a:bodyPr>
          <a:lstStyle/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SCRAPPING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252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C60B-D09B-73C1-83C7-5B8D1B69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03" y="564733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B22221D8-FFB4-69A5-0E6B-CFA11E559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9F4D67FC-92D3-6EE8-165B-2A06CBBE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D7281EA-369C-693C-BD01-E486C6AD2E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4898" y="1720840"/>
            <a:ext cx="787629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Offers smartphones from top brands like Apple, Samsung, Xiaomi, Vivo, and Realme</a:t>
            </a:r>
          </a:p>
          <a:p>
            <a:pPr marL="342900"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detailed specifications, ratings, and customer reviews</a:t>
            </a:r>
          </a:p>
          <a:p>
            <a:pPr marL="342900"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Competitive pricing with discounts and exchange offers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1FE6B3-C726-B3AD-CB4F-670B14D60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8725474" y="1367275"/>
            <a:ext cx="3073236" cy="3239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894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8D8E4-E110-A56B-CF40-8DF40882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57C9-6048-86FD-D462-6C40615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" y="585820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53F8E77D-A54D-37AC-0CFB-13F9D3FF7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B546583E-4336-B42B-A208-E8DBEF266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DBD2A-2603-F502-B2D8-6CE9EB49EA78}"/>
              </a:ext>
            </a:extLst>
          </p:cNvPr>
          <p:cNvSpPr txBox="1"/>
          <p:nvPr/>
        </p:nvSpPr>
        <p:spPr>
          <a:xfrm>
            <a:off x="604980" y="6587901"/>
            <a:ext cx="7793879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F6CE0F-DDA4-D16E-530C-62AD3B052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8398859" y="1541250"/>
            <a:ext cx="3073236" cy="3239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5B71DC02-3117-4199-5D32-1DF6653E8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75579"/>
            <a:ext cx="6096000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High-rated mobiles within budget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smartphone market on Flipkart contains multiple brands with varying specifications and pricing.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Customers struggle to identify: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brand offers better value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vs performance relationship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features like battery, processor, and ratings impact price</a:t>
            </a:r>
          </a:p>
        </p:txBody>
      </p:sp>
    </p:spTree>
    <p:extLst>
      <p:ext uri="{BB962C8B-B14F-4D97-AF65-F5344CB8AC3E}">
        <p14:creationId xmlns:p14="http://schemas.microsoft.com/office/powerpoint/2010/main" val="3967736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430018"/>
            <a:ext cx="2907890" cy="9091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E286A-B439-A981-0498-5FBB8AF7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5181" y="1507059"/>
            <a:ext cx="9721645" cy="33835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and compare Mobile Features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Price , Brand, Processor , Storage ,Camera Quality , Ram and  ratings insights from Flipkart..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data-driven insights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help consumers to make proper decisions based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purchasing mobiles.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patterns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trends across different segments in Mobile.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2877-0C48-5832-A3A6-F82C9EE6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53" y="435917"/>
            <a:ext cx="3008179" cy="82386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091940F-394A-C4D9-49A9-28A0D53A3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326" y="1517596"/>
            <a:ext cx="3930769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143134B-5DDE-9DA9-C904-C2C12CE77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014" y="4568005"/>
            <a:ext cx="3190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gEx - Transformation Services | openHAB">
            <a:extLst>
              <a:ext uri="{FF2B5EF4-FFF2-40B4-BE49-F238E27FC236}">
                <a16:creationId xmlns:a16="http://schemas.microsoft.com/office/drawing/2014/main" id="{EC2EC784-CEE9-A58C-1939-2AA806F63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3063874"/>
            <a:ext cx="40195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Beautiful Soup 4 | Funthon">
            <a:extLst>
              <a:ext uri="{FF2B5EF4-FFF2-40B4-BE49-F238E27FC236}">
                <a16:creationId xmlns:a16="http://schemas.microsoft.com/office/drawing/2014/main" id="{81ABF712-4AED-CDA3-4D98-A52C78496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777" y="1381892"/>
            <a:ext cx="32670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iting and logo — seaborn 0.13.2 ...">
            <a:extLst>
              <a:ext uri="{FF2B5EF4-FFF2-40B4-BE49-F238E27FC236}">
                <a16:creationId xmlns:a16="http://schemas.microsoft.com/office/drawing/2014/main" id="{7EC87C6C-8C0E-53D2-B133-B39020CF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595" y="471088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atplotlib Logo &amp; Brand Assets (SVG ...">
            <a:extLst>
              <a:ext uri="{FF2B5EF4-FFF2-40B4-BE49-F238E27FC236}">
                <a16:creationId xmlns:a16="http://schemas.microsoft.com/office/drawing/2014/main" id="{65CBCFCE-FD98-D992-1C08-65F5EFEB6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926" y="3109858"/>
            <a:ext cx="37052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322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41" y="425011"/>
            <a:ext cx="3657623" cy="6840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C51-E6DE-FD43-74F8-6AC7547F18CD}"/>
              </a:ext>
            </a:extLst>
          </p:cNvPr>
          <p:cNvSpPr txBox="1"/>
          <p:nvPr/>
        </p:nvSpPr>
        <p:spPr>
          <a:xfrm>
            <a:off x="940671" y="1280672"/>
            <a:ext cx="5155329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Flipkart Mobile was selected as the data source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developer tools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(Inspect Element) to locate relevant HTML tags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Beautiful Soup and Requests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extract data from Flipkart.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requests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fetch web pages.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trends.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766973-A731-344F-B10C-0C26F8D08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11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B927B-2C25-40CC-4590-F7F1CDE38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8BBF-25D0-6779-0CC9-D47815541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7580" y="0"/>
            <a:ext cx="12267159" cy="684068"/>
          </a:xfrm>
        </p:spPr>
        <p:txBody>
          <a:bodyPr>
            <a:noAutofit/>
          </a:bodyPr>
          <a:lstStyle/>
          <a:p>
            <a:pPr algn="ctr"/>
            <a:r>
              <a:rPr lang="en-IN" dirty="0">
                <a:solidFill>
                  <a:schemeClr val="accent2"/>
                </a:solidFill>
              </a:rPr>
              <a:t>Uncleaned Dataset: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0E02AF-BC45-8642-8676-7AA173516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6754"/>
            <a:ext cx="12192000" cy="593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684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3525-D926-CE9E-E017-A7BE865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97" y="131735"/>
            <a:ext cx="5008061" cy="723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522CF49-24EC-C8DD-017B-468FF3478DD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92510" y="776425"/>
            <a:ext cx="10599174" cy="5831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Checked and handled missing values using is null() to ensure data completeness.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records using duplicated() to avoid biased analysis.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text-based columns like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Price, Battery, and Ratings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proper numeric format for accurate calculations.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Detected and treated outliers in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column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the IQR method to reduce extreme value impact.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column names and ensured correct data types for smooth EDA and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244275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DE051E-2514-E071-BEBB-276B4E855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1097"/>
            <a:ext cx="12192000" cy="51623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A1E58A-8522-2F6B-6FAD-4865AC5297A0}"/>
              </a:ext>
            </a:extLst>
          </p:cNvPr>
          <p:cNvSpPr txBox="1"/>
          <p:nvPr/>
        </p:nvSpPr>
        <p:spPr>
          <a:xfrm>
            <a:off x="0" y="117987"/>
            <a:ext cx="11857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Cleaned Dataset</a:t>
            </a:r>
          </a:p>
        </p:txBody>
      </p:sp>
    </p:spTree>
    <p:extLst>
      <p:ext uri="{BB962C8B-B14F-4D97-AF65-F5344CB8AC3E}">
        <p14:creationId xmlns:p14="http://schemas.microsoft.com/office/powerpoint/2010/main" val="1799467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0041-6786-98A5-A78C-5FFC636E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4014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F21342-FF3B-A195-33FF-DA36CFC36F5B}"/>
              </a:ext>
            </a:extLst>
          </p:cNvPr>
          <p:cNvSpPr txBox="1"/>
          <p:nvPr/>
        </p:nvSpPr>
        <p:spPr>
          <a:xfrm>
            <a:off x="78659" y="1448624"/>
            <a:ext cx="656794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Realme leads in total listed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by Samsung and Redmi, showing strong marketplace presence.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Mid-tier brands like IQOO, Vivo, and Motorola show moderate representation.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Long-tail distribution observed among smaller brands.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Marketplace is highly competitive but dominated by a few key brands.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Realme appears aggressively positioned in Flipkart listings.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5D2F0A-CB86-CBA8-4CC5-5541EC4A3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799" y="1183171"/>
            <a:ext cx="5632201" cy="50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74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076-F25A-AF23-B2ED-E39CABA8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6DB9-CFE0-861F-FD41-2793A641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29B3D8-24F0-BFDD-F8CA-E6AACD40E032}"/>
              </a:ext>
            </a:extLst>
          </p:cNvPr>
          <p:cNvSpPr txBox="1"/>
          <p:nvPr/>
        </p:nvSpPr>
        <p:spPr>
          <a:xfrm>
            <a:off x="491613" y="1351508"/>
            <a:ext cx="540294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price distribution is positively skewed (right-skewed).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mobile phones fall within the ₹5,000 – ₹30,000 range.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few products are priced above ₹60,000.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extreme values going up to ₹1.5 Lakhs+.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concentration of products in the budget and mid-range segment.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376370-7F10-5C98-D519-C4ADB212E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69357"/>
            <a:ext cx="5890770" cy="435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32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CB1F-F52B-AB9B-23B5-48A7B7E1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7876-07C0-93DC-2DD7-21561A9F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7890F0-5585-BA3C-7BA1-63E4312F4CE6}"/>
              </a:ext>
            </a:extLst>
          </p:cNvPr>
          <p:cNvSpPr txBox="1"/>
          <p:nvPr/>
        </p:nvSpPr>
        <p:spPr>
          <a:xfrm>
            <a:off x="363200" y="1322480"/>
            <a:ext cx="540294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price lies around ₹15,000 – ₹20,000 range.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Interquartile range (IQR) is concentrated in lower price bands.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outliers detected above ₹60,000.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outliers extend beyond ₹1,00,000+.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represent premium flagship brands (Apple, high-end Vivo, Motorola models).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outliers may improve predictive model performance if target is mass market.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3FF51C-F0E0-AA8F-2BCD-B4F66D45D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056" y="1322480"/>
            <a:ext cx="5585944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714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C6F8F5-6049-836D-F870-F42F2429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594" y="1292942"/>
            <a:ext cx="5427406" cy="55650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F8E219-2107-3162-1D57-981938B74192}"/>
              </a:ext>
            </a:extLst>
          </p:cNvPr>
          <p:cNvSpPr txBox="1"/>
          <p:nvPr/>
        </p:nvSpPr>
        <p:spPr>
          <a:xfrm>
            <a:off x="88490" y="1292942"/>
            <a:ext cx="631231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mostly priced between ₹59,000 – ₹69,999.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Brands contributing to outliers: Apple , Motorola , Vivo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High-end processors observed: Snapdragon 8 Gen 5,A16 Bionic Chip ,Dimensity 9400+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phones maintain high ratings (4.5 – 4.7).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Discounts range between 7% – 25%.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 camera mostly 50MP configurations.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Warranty: 1 Year (standardized across premium models).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phones maintain: High ratings ,Powerful processors ,Competitive discounts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CB253-DA9C-116B-A4F1-9C56C460C8E1}"/>
              </a:ext>
            </a:extLst>
          </p:cNvPr>
          <p:cNvSpPr txBox="1"/>
          <p:nvPr/>
        </p:nvSpPr>
        <p:spPr>
          <a:xfrm>
            <a:off x="226142" y="240523"/>
            <a:ext cx="121674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440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61A13-0770-5F19-9105-5BE0808A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671AE-6593-5B1A-5289-CECB9FBCD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675CAD-1E1B-F447-802D-9FF27DCEEEAF}"/>
              </a:ext>
            </a:extLst>
          </p:cNvPr>
          <p:cNvSpPr txBox="1"/>
          <p:nvPr/>
        </p:nvSpPr>
        <p:spPr>
          <a:xfrm>
            <a:off x="216310" y="1536174"/>
            <a:ext cx="648928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median price is somewhere near the middle of the box, suggesting that most of the mobile prices are evenly distributed around the center value.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consistent range in mobile prices, as shown by the whiskers. There’s no indication of extreme high or low prices (no outliers), which means the price distribution is relatively stable.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green color of the box emphasizes that most of the mobile prices fall within a reasonable range, without any dramatic price spikes or drops.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461F36-FF5B-322F-7A0A-1DE0B061B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178" y="1272353"/>
            <a:ext cx="5151566" cy="43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34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6B82-888C-47A4-9A93-E3BDA0BC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AAAA-6A70-A375-E36A-57C13DEB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5F5D73-9438-374C-2CD9-92C838053E30}"/>
              </a:ext>
            </a:extLst>
          </p:cNvPr>
          <p:cNvSpPr txBox="1"/>
          <p:nvPr/>
        </p:nvSpPr>
        <p:spPr>
          <a:xfrm>
            <a:off x="0" y="929423"/>
            <a:ext cx="695140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dominates the premium mobile market with the highest number of expensive models, showing 12 models in total.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Samsung follows with 7 high-priced models, significantly fewer than Apple but still a strong contender in the premium market.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OPPO, OnePlus, and Motorola each have 4 to 5 expensive models, indicating a more limited presence in the high-end price range.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clearly highlights the dominance of Apple in terms of the number of high-priced phones, far ahead of other brands.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yellow bars visually emphasize the significant difference between Apple and the other brands in the high-end mobile segment.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A40C37-92AF-1B67-D9F7-1797C891D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057" y="929423"/>
            <a:ext cx="5402943" cy="499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14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98682-D684-5CBE-45F7-312D5903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A065-3F45-1970-A334-E1F2237E1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0DFE87-3B98-24A9-3C1B-2A43B4D9DD06}"/>
              </a:ext>
            </a:extLst>
          </p:cNvPr>
          <p:cNvSpPr txBox="1"/>
          <p:nvPr/>
        </p:nvSpPr>
        <p:spPr>
          <a:xfrm>
            <a:off x="0" y="1248739"/>
            <a:ext cx="6260615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A18 Chip and Dimensity 6300 Processor are the most common processors, each accounting for 27.6% of the market share.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Dimensity 8450 Processor holds 17.2% of the share, indicating its significant, though smaller, presence.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A19 Chip and Snapdragon 8 Gen 5 Processor each contribute 13.8% of the share, showing a smaller but notable presence in the market.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provides a clear visual representation of the market distribution among the top five mobile processors, with A18 and Dimensity 6300 leading the way.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F799F7-0718-93F8-6BD2-4AA11DE74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615" y="1500299"/>
            <a:ext cx="5936149" cy="40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48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49E88-4526-D32F-FA99-F8D0DD335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11ECB-3EDE-E23F-4E4E-253ECB3A5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21B98C-36DD-1030-763D-766FCDBA9E17}"/>
              </a:ext>
            </a:extLst>
          </p:cNvPr>
          <p:cNvSpPr txBox="1"/>
          <p:nvPr/>
        </p:nvSpPr>
        <p:spPr>
          <a:xfrm>
            <a:off x="-2" y="662062"/>
            <a:ext cx="7236543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Price vs Battery Capacity: The chart shows the relationship between mobile price and battery capacity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As the battery capacity increases, prices tend to spike, especially for higher capacities around 4000mAh.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Sharp Price Increase: A significant price surge is observed around the 4000mAh battery range, indicating that mobiles with higher battery capacity tend to have significantly higher prices.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Fluctuating Trend: After the sharp price increase, the chart shows price fluctuations, especially as battery capacity continues to rise, suggesting that other factors also influence price at higher capacities.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Decreasing Trend at Higher Capacities: For mobile batteries above 6000mAh, the price tends to decrease or stabilize, indicating that larger batteries don’t always correlate with higher prices beyond a certain point.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837794-534F-F45E-2CFB-544E95889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26" y="1165938"/>
            <a:ext cx="5112774" cy="432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03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5667-5F7A-A4C2-EFC8-E3586195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E140-5F98-DE88-FD81-3C52AFAAC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3DA78F-BD5C-9EC8-C098-C05D7761A9C3}"/>
              </a:ext>
            </a:extLst>
          </p:cNvPr>
          <p:cNvSpPr txBox="1"/>
          <p:nvPr/>
        </p:nvSpPr>
        <p:spPr>
          <a:xfrm>
            <a:off x="0" y="1225689"/>
            <a:ext cx="665643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shows a negative correlation between price and ratings. As the price increases, the ratings tend to decrease slightly, especially for the higher-priced phones.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High-Rating Concentration: Most phones with high ratings (4.0 and above) are concentrated in the lower price range, indicating that many affordable mobiles have good customer feedback.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Outliers: A few phones with extremely high prices (over ₹100,000) have relatively lower ratings, which could indicate that higher prices do not always guarantee better customer satisfaction.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Saturation: Beyond a certain price point (₹60,000), there are fewer phones with high ratings, suggesting diminishing returns in terms of customer satisfaction as the price rises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F1BB7A-550F-2CEC-816D-1A66C03BC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439" y="1143842"/>
            <a:ext cx="5535562" cy="441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80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B6375-873F-A5A0-AEE6-0EE96A9B3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6D57-B54C-227A-553D-FBD81EC08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D69F69-AE06-2596-25E3-9599EFAFCE0B}"/>
              </a:ext>
            </a:extLst>
          </p:cNvPr>
          <p:cNvSpPr txBox="1"/>
          <p:nvPr/>
        </p:nvSpPr>
        <p:spPr>
          <a:xfrm>
            <a:off x="0" y="1225689"/>
            <a:ext cx="633197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Motorola Leads: Motorola has the highest average battery capacity, with around 6000 Mah, indicating its strong focus on offering long-lasting battery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Samsung and OPPO: Samsung and OPPO have similar battery capacities, each around 5000 Mah, providing good battery performance but slightly lower than Motorola.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OnePlus: OnePlus comes close to Motorola, with a battery capacity near 5500 Mah, showing strong performance, though slightly lower than Motorola’s.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Apple: Apple has the lowest average battery capacity among the top 5 brands, with around 4000 Mah, reflecting its typical design trade-offs for performance, but still offering competitive battery life.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880C56-00E9-5053-6BD8-1BAF069E1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023" y="1425252"/>
            <a:ext cx="5966977" cy="441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201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9818E-DAFD-9A23-AA9C-58C42077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0C189-12E1-CAA7-F203-94A1E3CDC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28D7F5-86EB-026A-C8B3-D862C9E02CF8}"/>
              </a:ext>
            </a:extLst>
          </p:cNvPr>
          <p:cNvSpPr txBox="1"/>
          <p:nvPr/>
        </p:nvSpPr>
        <p:spPr>
          <a:xfrm>
            <a:off x="117987" y="1414659"/>
            <a:ext cx="666627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Motorola Leads in Ratings: Motorola has the highest average rating, just above 4.5, indicating strong customer satisfaction with its mobile phones.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Samsung and OPPO: Both Samsung and OPPO have similar ratings, slightly below 4.5, showing that these brands are also highly rated by customers but slightly behind Motorola.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OnePlus and Apple: OnePlus and Apple have very close ratings, both near 4.4, indicating strong performance and customer satisfaction, though slightly lower than Motorola and Samsung/OPPO.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Bars: The error bars indicate the variability in ratings across models within each brand, showing some differences in how individual devices perform in terms of user feedback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160D94-8A13-C5F2-7164-1A79664D6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021" y="1236736"/>
            <a:ext cx="5524979" cy="420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139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7BBF4-1CFA-CD8B-899F-E41585DD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BB468-2A6E-A565-4345-2C57412B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AE2E40-2FB2-04D8-FD57-E214BC76FFF0}"/>
              </a:ext>
            </a:extLst>
          </p:cNvPr>
          <p:cNvSpPr txBox="1"/>
          <p:nvPr/>
        </p:nvSpPr>
        <p:spPr>
          <a:xfrm>
            <a:off x="108155" y="1338968"/>
            <a:ext cx="7432926" cy="5730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Apple's Premium Pricing: Apple has the highest average price, exceeding ₹80,000, indicating that Apple mobiles are positioned in the premium price segment.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Other Brands' Prices: Motorola, Samsung, OPPO, and OnePlus have significantly lower average prices, ranging from around ₹20,000 to ₹40,000, suggesting these brands cater to more mid-range and affordable price points.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Bars: The error bars represent the variability in prices within each brand, showing that there's some fluctuation in mobile prices for each brand, with Apple having a wider range.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Range Distribution: While all brands have their price ranges, Apple clearly stands out as the most expensive, while other brands, like Motorola and OPPO, are more affordable, offering a mix of budget and mid-range options.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B5670B-A5CB-E7FC-32A7-EC2A91BA1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770" y="1279974"/>
            <a:ext cx="4759075" cy="429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81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9B56F-CE91-689B-D969-3B9BEF87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41CBF-5171-F58F-E6DC-193491D4D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3626"/>
            <a:ext cx="5402943" cy="595731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87AF65-3901-0BB9-4EB3-70E37ADAA8A0}"/>
              </a:ext>
            </a:extLst>
          </p:cNvPr>
          <p:cNvSpPr txBox="1"/>
          <p:nvPr/>
        </p:nvSpPr>
        <p:spPr>
          <a:xfrm>
            <a:off x="0" y="1225689"/>
            <a:ext cx="679409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Distribution: The chart shows the distribution of mobile processors used by the top five mobile brands: Motorola, Samsung, Apple, OnePlus, and OPPO.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Processors: The Helio G81, Dimensity 6300, and Dimensity 7400 processors appear frequently, suggesting that many mid-range and budget phones use these chipsets.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Apple's Dominance: Apple primarily uses its proprietary A15 Bionic Chip and A16 Bionic Chip, which appear prominently in the chart, indicating Apple’s focus on high-performance, in-house processors.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Variety: Samsung, Motorola, and OPPO have a more diverse set of processors, with Snapdragon and Exynos chips being used across different models, showing a range of options for different price points and performance levels.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2D520F-892A-CB8A-92C8-7970BC260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091" y="1384107"/>
            <a:ext cx="5397909" cy="43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5122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99E24-2A61-371D-925F-55A124C76632}"/>
              </a:ext>
            </a:extLst>
          </p:cNvPr>
          <p:cNvSpPr txBox="1">
            <a:spLocks/>
          </p:cNvSpPr>
          <p:nvPr/>
        </p:nvSpPr>
        <p:spPr>
          <a:xfrm>
            <a:off x="-245806" y="-55836"/>
            <a:ext cx="5402943" cy="595731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9E2DA-CB75-30CA-25E8-820F8325D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3" y="539895"/>
            <a:ext cx="11779045" cy="38149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6F04D5-EC85-B67E-D0FC-10D3191CEB99}"/>
              </a:ext>
            </a:extLst>
          </p:cNvPr>
          <p:cNvSpPr txBox="1"/>
          <p:nvPr/>
        </p:nvSpPr>
        <p:spPr>
          <a:xfrm>
            <a:off x="117986" y="4354811"/>
            <a:ext cx="11661058" cy="23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shows the distribution of warranty types across different mobile brands. The warranty types include 1 Year, Up to 6 Months, and No Warranty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Brands with Most 1-Year Warranty: realme, Motorola, and iQOO have the highest number of mobile models offering a 1-year warranty, indicating these brands typically provide standard warranty periods.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Brands with Longer Warranties: MOTOROLA stands out with some models offering a warranty longer than 1 year, reflecting a commitment to customer confidence in their products.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Brands with No Warranty: Some brands, such as Jmax and Kechaoda, have models with no warranty, which may indicate either budget-friendly pricing or more limited customer support.</a:t>
            </a:r>
          </a:p>
        </p:txBody>
      </p:sp>
    </p:spTree>
    <p:extLst>
      <p:ext uri="{BB962C8B-B14F-4D97-AF65-F5344CB8AC3E}">
        <p14:creationId xmlns:p14="http://schemas.microsoft.com/office/powerpoint/2010/main" val="3890473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B904D-46D1-170B-9727-A7FD9B6BC794}"/>
              </a:ext>
            </a:extLst>
          </p:cNvPr>
          <p:cNvSpPr txBox="1">
            <a:spLocks/>
          </p:cNvSpPr>
          <p:nvPr/>
        </p:nvSpPr>
        <p:spPr>
          <a:xfrm>
            <a:off x="0" y="196645"/>
            <a:ext cx="5402943" cy="595731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6418D6-6725-DD94-E0F6-FA87322AE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508" y="1161853"/>
            <a:ext cx="4542503" cy="45342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6B7684-86B2-5AC4-3A7F-30AAB145942C}"/>
              </a:ext>
            </a:extLst>
          </p:cNvPr>
          <p:cNvSpPr txBox="1"/>
          <p:nvPr/>
        </p:nvSpPr>
        <p:spPr>
          <a:xfrm>
            <a:off x="0" y="986738"/>
            <a:ext cx="783631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50MP Cameras Dominate: The chart shows that the majority of mobiles from Motorola, Samsung, OPPO, OnePlus, and Apple have 50MP rear cameras, with Motorola leading in this category.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Motorola's Dominance: Motorola stands out significantly, with the highest number of models featuring 50MP cameras, indicating its strong focus on high-resolution camera phones.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Camera Resolutions: There are fewer phones with 13MP and 0.3MP rear cameras across the brands, with only a few models featuring these lower resolutions, mainly from OPPO and OnePlus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High-Quality Cameras: Most of the top brands prioritize higher-resolution rear cameras, with 50MPbecoming the most common, showing a market trend toward better camera performance in mid-range and premium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highlights the focus of top mobile brands on providing high-quality cameras, particularly with a 50MP resolution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19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F8A020-7673-CACF-AF52-B532E67DB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07886"/>
            <a:ext cx="9783097" cy="35396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3951D1-5D31-798A-853D-132C703B0189}"/>
              </a:ext>
            </a:extLst>
          </p:cNvPr>
          <p:cNvSpPr txBox="1"/>
          <p:nvPr/>
        </p:nvSpPr>
        <p:spPr>
          <a:xfrm>
            <a:off x="0" y="4022363"/>
            <a:ext cx="12103510" cy="26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vs Discount Distribution: The chart shows the price range of mobiles against their discount percentages across four top brands: Motorola, Samsung, OPPO, and Apple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Motorola's Pricing and Discount: Motorola offers mobiles with lower prices (around ₹10,000 to ₹30,000) and relatively higher discounts (up to 50%), making it the most affordable brand with substantial discounts.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Samsung's Mid-Range: Samsung offers mobiles with a wide range of prices (₹20,000 to ₹80,000) and moderate discounts, with discounts typically between 10-30%.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Apple's High Prices with Lower Discounts: Apple has higher-priced models (often over ₹80,000), but it offers smaller discounts (around 5-10%), indicating a premium pricing strategy with limited discounting.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5F441D-2FEA-CD4D-62B0-AB5BE579F4C5}"/>
              </a:ext>
            </a:extLst>
          </p:cNvPr>
          <p:cNvSpPr txBox="1"/>
          <p:nvPr/>
        </p:nvSpPr>
        <p:spPr>
          <a:xfrm>
            <a:off x="-685801" y="0"/>
            <a:ext cx="61009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</p:spTree>
    <p:extLst>
      <p:ext uri="{BB962C8B-B14F-4D97-AF65-F5344CB8AC3E}">
        <p14:creationId xmlns:p14="http://schemas.microsoft.com/office/powerpoint/2010/main" val="2490023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B55EC3-CB95-C8EF-A4BB-755CF223B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180" y="609600"/>
            <a:ext cx="7964129" cy="34019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169B3E-34A9-1F50-9A75-59FB1396678D}"/>
              </a:ext>
            </a:extLst>
          </p:cNvPr>
          <p:cNvSpPr txBox="1"/>
          <p:nvPr/>
        </p:nvSpPr>
        <p:spPr>
          <a:xfrm>
            <a:off x="186813" y="3854245"/>
            <a:ext cx="11818374" cy="26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Camera Resolutions: The chart shows a focus on 50MP cameras, especially for both front and back cameras, with many mobile models featuring combinations like 50MP + 50MP + 50MP or 50MP + 12MP + 8MP.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Samsung's Camera Range: Samsung offers a variety of camera configurations, including models with high-quality 50MP back cameras, often paired with 8MP to 16MP front cameras, making it prominent in mid-to-high-range camera setups.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Motorola's Camera Focus: Motorola is leading with 50MP back cameras, often coupled with decent front cameras like 8MP or 16MP, catering to both high-quality photos and balanced performance.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and OPPO: Apple and OPPO use a combination of high-resolution back cameras, like 200MP or 50MP, with front cameras ranging from 12MP to 50MP, focusing on strong rear cameras while keeping front camera resolutions competitive.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5360CB-7C38-2BC4-A275-129672A9AE0F}"/>
              </a:ext>
            </a:extLst>
          </p:cNvPr>
          <p:cNvSpPr txBox="1"/>
          <p:nvPr/>
        </p:nvSpPr>
        <p:spPr>
          <a:xfrm>
            <a:off x="-717756" y="1082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</p:spTree>
    <p:extLst>
      <p:ext uri="{BB962C8B-B14F-4D97-AF65-F5344CB8AC3E}">
        <p14:creationId xmlns:p14="http://schemas.microsoft.com/office/powerpoint/2010/main" val="8194031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015A84-8637-5AD5-C7F5-9129A7AE6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353" y="760837"/>
            <a:ext cx="9045679" cy="3099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FBB0A5-CD7C-5375-CEC3-F5537F28BF6E}"/>
              </a:ext>
            </a:extLst>
          </p:cNvPr>
          <p:cNvSpPr txBox="1"/>
          <p:nvPr/>
        </p:nvSpPr>
        <p:spPr>
          <a:xfrm>
            <a:off x="96994" y="3913239"/>
            <a:ext cx="11937690" cy="2637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Warranty Distribution: The chart shows different mobile brands and their box warranty offerings, including 1 year, up to 6 months, and no warranty.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1-Year Warranty: Several brands, including realme, Motorola, iQOO, and OnePlus, provide 1-year warranty on their mobile devices, which is standard for most mobile phones.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 Warranty: A few brands, such as Jmax and </a:t>
            </a:r>
            <a:r>
              <a:rPr lang="en-US" dirty="0" err="1"/>
              <a:t>BlackZone</a:t>
            </a:r>
            <a:r>
              <a:rPr lang="en-US" dirty="0"/>
              <a:t>, offer no warranty on their mobile phones, indicating budget-oriented or region-specific sales strategies.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Short-Term Warranty: Brands like OPPO and Samsung feature phones with up to 6 months warranty, suggesting either limited-time offers or shorter-term product guarantees for specific markets or mode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79F14E-FC60-1D7D-6678-8AD6EA21FCC8}"/>
              </a:ext>
            </a:extLst>
          </p:cNvPr>
          <p:cNvSpPr txBox="1"/>
          <p:nvPr/>
        </p:nvSpPr>
        <p:spPr>
          <a:xfrm>
            <a:off x="-865239" y="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</p:spTree>
    <p:extLst>
      <p:ext uri="{BB962C8B-B14F-4D97-AF65-F5344CB8AC3E}">
        <p14:creationId xmlns:p14="http://schemas.microsoft.com/office/powerpoint/2010/main" val="35091605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2E5931-9ED5-475E-C80C-36BD22F6F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4" y="707923"/>
            <a:ext cx="8882625" cy="34314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30CA36-E0DF-F5FB-A886-6B8FE0C6EF69}"/>
              </a:ext>
            </a:extLst>
          </p:cNvPr>
          <p:cNvSpPr txBox="1"/>
          <p:nvPr/>
        </p:nvSpPr>
        <p:spPr>
          <a:xfrm>
            <a:off x="0" y="4070555"/>
            <a:ext cx="12083845" cy="23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vs Storage Distribution: The chart shows the relationship between mobile prices and  storage capacities  for different brands: Motorola, Samsung, OPPO, and Apple.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Apple's High Price and Storage: Apple mobiles are priced  higher  (up to ₹150,000) and come with  larger storage capacities  (up to 500GB), which aligns with their premium positioning in the market.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Motorola and Samsung's Price Range: Motorola and Samsung offer affordable to mid-range mobiles with lower storage options, mostly in the range of  64GB to 128GB storage, priced around ₹10,000 to ₹40,000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OPPO's Mid-Range Offering: OPPO offers mobiles with moderate pricing (around ₹20,000 to ₹50,000), feat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FF4492-87A5-72AB-1B6C-55EC28900CC6}"/>
              </a:ext>
            </a:extLst>
          </p:cNvPr>
          <p:cNvSpPr txBox="1"/>
          <p:nvPr/>
        </p:nvSpPr>
        <p:spPr>
          <a:xfrm>
            <a:off x="-848034" y="37"/>
            <a:ext cx="61009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</p:spTree>
    <p:extLst>
      <p:ext uri="{BB962C8B-B14F-4D97-AF65-F5344CB8AC3E}">
        <p14:creationId xmlns:p14="http://schemas.microsoft.com/office/powerpoint/2010/main" val="39346999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63E3B4-3927-8EAD-7A37-FB306AD79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981" y="998009"/>
            <a:ext cx="4395019" cy="48619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C93498-924C-14D0-D7A7-C69464CED876}"/>
              </a:ext>
            </a:extLst>
          </p:cNvPr>
          <p:cNvSpPr txBox="1"/>
          <p:nvPr/>
        </p:nvSpPr>
        <p:spPr>
          <a:xfrm>
            <a:off x="0" y="917912"/>
            <a:ext cx="806245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Positive Correlation Between Price and Original Price: There is a very strong correlation (0.87) between price and original price, suggesting that the mobile's retail price is closely related to its original price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and Ratings Correlation: The price has a moderate positive correlation (0.62) with ratings, indicating that higher-priced mobiles tend to have better user ratings, but the relationship is not extremely strong.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and Price Correlation: Storage has a moderate positive correlation (0.56) with price, implying that higher storage capacities are often found in more expensive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and Display Size Correlation: Battery capacity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display inches both show moderate positive correlations (0.64), suggesting that larger displays are often paired with larger battery capacities.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heatmap visually represents how different variables, such as price, ratings, battery, and storage, correlate with each other, highlighting key relationships in mobile pricing and features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79D96D-A3EF-587E-E6D3-CB624F8AFDD3}"/>
              </a:ext>
            </a:extLst>
          </p:cNvPr>
          <p:cNvSpPr txBox="1"/>
          <p:nvPr/>
        </p:nvSpPr>
        <p:spPr>
          <a:xfrm>
            <a:off x="-722671" y="0"/>
            <a:ext cx="61254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</p:spTree>
    <p:extLst>
      <p:ext uri="{BB962C8B-B14F-4D97-AF65-F5344CB8AC3E}">
        <p14:creationId xmlns:p14="http://schemas.microsoft.com/office/powerpoint/2010/main" val="3781629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9DEF-89CA-A2D6-D3EC-477F8E77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3111"/>
            <a:ext cx="2794000" cy="904875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9C3BE92-B48B-2A1D-F16A-C9FECDDF3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5501" y="1298262"/>
            <a:ext cx="11975691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900+ mobile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shows strong dominance of budget &amp; mid-range segment (₹5,000–₹30,000).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Samsung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lead in total listings, indicating strong marketplace presence.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Premium segment is limited but led by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high pricing and strong brand positioning.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distribution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positively skewed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few high-end flagship outliers above ₹60,000.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50MP cameras and 5000–6000mAh batteries have become standard features in mid-range phones.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Moderate correlation observed between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price, storage, and ratings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showing structured pricing strategy.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segment-based market positioning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visible across brands</a:t>
            </a:r>
          </a:p>
        </p:txBody>
      </p:sp>
    </p:spTree>
    <p:extLst>
      <p:ext uri="{BB962C8B-B14F-4D97-AF65-F5344CB8AC3E}">
        <p14:creationId xmlns:p14="http://schemas.microsoft.com/office/powerpoint/2010/main" val="16446870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B056F-9062-30AD-DC3E-EDA58FCBD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0E098-0529-B472-5056-1F631A096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19" y="462115"/>
            <a:ext cx="7346950" cy="771525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Experiences &amp; Challenges: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97224C5-28B7-7EE8-34EA-5814746E9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136" y="1417260"/>
            <a:ext cx="9842090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Extracted large datasets from dynamic web pages using Python (Beautiful Soup, Requests).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Faced challenges with inconsistent data formats and missing values during cleaning.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Automated scraping process to handle multiple pages and reduce time.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Structured raw HTML data into a clean Pandas Data Frame for analysis.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Addressed inconsistent data formats during preprocessing.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Handled missing values and cleaned noisy data to ensure accurate EDA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5717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74466DAD-25FF-3D8F-1EEE-78F17B055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475" y="174503"/>
            <a:ext cx="9417049" cy="588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F1FB5D26-1BC2-45B5-5BCB-F1DF929FB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>
            <a:extLst>
              <a:ext uri="{FF2B5EF4-FFF2-40B4-BE49-F238E27FC236}">
                <a16:creationId xmlns:a16="http://schemas.microsoft.com/office/drawing/2014/main" id="{A30C4859-54E9-B096-0C07-32BA83755F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3178" y="2601247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42F01092-7308-BBFE-4137-EAAC184D440C}"/>
              </a:ext>
            </a:extLst>
          </p:cNvPr>
          <p:cNvSpPr txBox="1"/>
          <p:nvPr/>
        </p:nvSpPr>
        <p:spPr>
          <a:xfrm>
            <a:off x="3983084" y="1081308"/>
            <a:ext cx="471625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630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1609</TotalTime>
  <Words>2928</Words>
  <Application>Microsoft Office PowerPoint</Application>
  <PresentationFormat>Widescreen</PresentationFormat>
  <Paragraphs>238</Paragraphs>
  <Slides>35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  <vt:variant>
        <vt:lpstr>Custom Shows</vt:lpstr>
      </vt:variant>
      <vt:variant>
        <vt:i4>1</vt:i4>
      </vt:variant>
    </vt:vector>
  </HeadingPairs>
  <TitlesOfParts>
    <vt:vector size="42" baseType="lpstr">
      <vt:lpstr>Times New Roman</vt:lpstr>
      <vt:lpstr>Arial</vt:lpstr>
      <vt:lpstr>Wingdings</vt:lpstr>
      <vt:lpstr>Calibri</vt:lpstr>
      <vt:lpstr>Libre Baskerville</vt:lpstr>
      <vt:lpstr>Office Theme</vt:lpstr>
      <vt:lpstr>PowerPoint Presentation</vt:lpstr>
      <vt:lpstr>About us:</vt:lpstr>
      <vt:lpstr>Preface:</vt:lpstr>
      <vt:lpstr>Introduction:</vt:lpstr>
      <vt:lpstr>Business Problem:</vt:lpstr>
      <vt:lpstr>Objectives:</vt:lpstr>
      <vt:lpstr>Tools Used:</vt:lpstr>
      <vt:lpstr>Web Scraping:</vt:lpstr>
      <vt:lpstr>Uncleaned Dataset:</vt:lpstr>
      <vt:lpstr>Data Cleaning Steps:</vt:lpstr>
      <vt:lpstr>PowerPoint Presentation</vt:lpstr>
      <vt:lpstr>Data Visualization:</vt:lpstr>
      <vt:lpstr>Data Visualization:</vt:lpstr>
      <vt:lpstr>Data Visualization:</vt:lpstr>
      <vt:lpstr>PowerPoint Presentation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Conclusion:</vt:lpstr>
      <vt:lpstr>Experiences &amp; Challenges:</vt:lpstr>
      <vt:lpstr>PowerPoint Presentation</vt:lpstr>
      <vt:lpstr>PowerPoint Presentation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GOLLA AKHIL</cp:lastModifiedBy>
  <cp:revision>40</cp:revision>
  <dcterms:created xsi:type="dcterms:W3CDTF">2021-02-16T05:19:01Z</dcterms:created>
  <dcterms:modified xsi:type="dcterms:W3CDTF">2026-02-22T05:36:31Z</dcterms:modified>
</cp:coreProperties>
</file>